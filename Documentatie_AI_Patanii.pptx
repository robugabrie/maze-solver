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6217920"/>
            <a:ext cx="12124944" cy="64008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457200"/>
            <a:ext cx="3474720" cy="347472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  PROIECT UNIVERSITAR · INTELIGENȚĂ ARTIFICIALĂ 2026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Aplicație Autonomă 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B82F6"/>
                </a:solidFill>
              </a:rPr>
              <a:t>Navigație și Benchmark RL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34640"/>
            <a:ext cx="82296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Pioneer P3-DX · CoppeliaSim · Q-Learning · SARSA · Dyna-Q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Disciplina: Inteligență Artificială  ·  Echipa Patanii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14800"/>
            <a:ext cx="11247120" cy="16459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COMPONENȚA ECHIPEI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572000"/>
            <a:ext cx="2926080" cy="91440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663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Rusu Sebastian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 Research &amp; Dev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4572000"/>
            <a:ext cx="2926080" cy="91440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8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4663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Casciuc Stanislav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 Research &amp; Dev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4572000"/>
            <a:ext cx="2926080" cy="91440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7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4663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Robu Gabriel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 Research &amp; 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Cuprins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8229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02920" cy="822960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2618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Descrierea Proiectului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Scop, arhitectură, tehnologii utilizate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5394960" cy="8229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502920" cy="822960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4231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1343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Robotul Pioneer P3-DX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7157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Senzori, control motor, simulare fizică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91839"/>
            <a:ext cx="5394960" cy="8229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91839"/>
            <a:ext cx="502920" cy="822960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4747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64991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Labirintul Grid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6732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Reprezentare, generare, pathfinding clasic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43400"/>
            <a:ext cx="5394960" cy="8229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502920" cy="822960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5262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165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Reinforcement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818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Concepte RL, Q-Table, politici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94959"/>
            <a:ext cx="5394960" cy="8229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394959"/>
            <a:ext cx="502920" cy="822960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5778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46811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Algoritmi RL Implementați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870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Q-Learning, SARSA, Expected SARSA, Dyna-Q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188720"/>
            <a:ext cx="5394960" cy="8229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1188720"/>
            <a:ext cx="502920" cy="822960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371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12618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Spațiu Stări &amp; Recompense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1664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Discretizare, funcție recompensă, acțiuni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240280"/>
            <a:ext cx="5394960" cy="8229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240280"/>
            <a:ext cx="502920" cy="822960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24231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231343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Algoritmi de Pathfinding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27157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BFS, DFS, A*, Dijkstra, Greedy BFS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291839"/>
            <a:ext cx="5394960" cy="8229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3291839"/>
            <a:ext cx="502920" cy="822960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34747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364991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Comparație &amp; Benchmark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376732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RL vs clasic, grafice performanță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343400"/>
            <a:ext cx="5394960" cy="8229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4343400"/>
            <a:ext cx="502920" cy="822960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45262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44165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Interfața Utilizator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4818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Dashboard, editare labirint, antrenare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5394959"/>
            <a:ext cx="5394960" cy="8229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5394959"/>
            <a:ext cx="502920" cy="822960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5778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546811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Concluzii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5870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Rezultate, limitări, direcții viitoare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61288" cy="256032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292608"/>
            <a:ext cx="1069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01 / PROIECT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Descrierea Proiectului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114300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100584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🎯  Scopul proiectului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Simularea unui robot mobil care învață autonom să navigheze printr-un labirint folosind algoritmi de Reinforcement Learning, fără reguli programate explicit.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06040"/>
            <a:ext cx="5303520" cy="100584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🔧  Tehnologii folosite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Python 3.11  ·  CoppeliaSim  ·  CustomTkinter
ZMQ Remote API  ·  NumPy  ·  Matplotlib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5303520" cy="100584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587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📦  Structura modulelor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core/robot.py  ·  core/maze.py
core/behaviors.py  ·  core/pathfinding.py
gui/app.py  ·  config/mazes.json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83480"/>
            <a:ext cx="5303520" cy="6400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474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🧑‍💻  Limbaj &amp; Mediu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766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Python  ·  Linux/Windows  ·  IDE: VS Code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417320"/>
            <a:ext cx="5943600" cy="420624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508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Arhitectura sistemului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1920240"/>
            <a:ext cx="4572000" cy="5029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0" y="192024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202996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GUI — Dashboard (CustomTkinter)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651760"/>
            <a:ext cx="4572000" cy="5029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2651760"/>
            <a:ext cx="73152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2" y="276148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core/behaviors.py — Q-Learning / SARSA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383280"/>
            <a:ext cx="4572000" cy="5029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3383280"/>
            <a:ext cx="73152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2" y="349300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core/maze.py + pathfinding.py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4114800"/>
            <a:ext cx="4572000" cy="5029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0" y="4114800"/>
            <a:ext cx="73152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2" y="422452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core/robot.py — CoppeliaSim ZMQ 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846320"/>
            <a:ext cx="4572000" cy="5029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0" y="4846320"/>
            <a:ext cx="73152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22592" y="495604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CoppeliaSim — Simulare Fizică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2423160"/>
            <a:ext cx="27432" cy="228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1120" y="3154680"/>
            <a:ext cx="27432" cy="228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61120" y="3886200"/>
            <a:ext cx="27432" cy="228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61120" y="4617720"/>
            <a:ext cx="27432" cy="228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005840" cy="256032"/>
          </a:xfrm>
          <a:prstGeom prst="rect">
            <a:avLst/>
          </a:prstGeom>
          <a:solidFill>
            <a:srgbClr val="134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29260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</a:rPr>
              <a:t>02 / 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Robotul Pioneer P3-DX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1143000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120640" cy="41148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Specificații tehnice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1463040" cy="384048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75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Dimensiuni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9751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44 cm × 38 cm × 22 cm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41448"/>
            <a:ext cx="1463040" cy="384048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96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Greutate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4963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9 kg (fără baterie)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62656"/>
            <a:ext cx="1463040" cy="384048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Viteză max.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017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1.2 m/s în linie dreaptă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83864"/>
            <a:ext cx="1463040" cy="384048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387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Senzori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5387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16 senzori ultrasonici (Polaroid)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05072"/>
            <a:ext cx="1463040" cy="384048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5993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Rază detecție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05993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15 cm – 1.5 m per senzor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26279"/>
            <a:ext cx="1463040" cy="384048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58114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Roți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58114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Tracțiune diferențială (2 roți motrice)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47488"/>
            <a:ext cx="1463040" cy="384048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10235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Interfață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10235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ZMQ Remote API (CoppeliaSim)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17320"/>
            <a:ext cx="6035040" cy="475488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365760" y="5715000"/>
            <a:ext cx="11430000" cy="54864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779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</a:rPr>
              <a:t>💡  Robotul nu are sistem de localizare internă (fără SLAM). Toată navigația se bazează exclusiv pe citirile celor 16 senzori de proximitate.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239012" cy="256032"/>
          </a:xfrm>
          <a:prstGeom prst="rect">
            <a:avLst/>
          </a:prstGeom>
          <a:solidFill>
            <a:srgbClr val="4A3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292608"/>
            <a:ext cx="11475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</a:rPr>
              <a:t>03 / LABIRINT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Labirintul Grid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11430000" cy="25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4800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Reprezentarea internă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5029200" cy="32004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0253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GridMaze(rows, cols)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5000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Clasa principală. Stochează matricile de pereți orizontali (h_walls) și verticali (v_walls).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5029200" cy="32004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2549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h_walls[r][c] =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7296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Perete orizontal deasupra celulei (r, c). Marginile exterioare sunt întotdeauna True.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5029200" cy="32004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4845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v_walls[r][c] = 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9592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Perete vertical la stânga celulei (r, c). Formează granița labirintului.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5029200" cy="32004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7141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maze.neighbors(r, 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1888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Returnează lista vecinilor accesibili (fără perete între ei). Folosit de pathfinding.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57800"/>
            <a:ext cx="5029200" cy="32004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9437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generate_maze(rows, cols)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4184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Generare prin DFS recursive backtracking → labirint perfect (un singur drum între oricare 2 celule).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943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772668" cy="256032"/>
          </a:xfrm>
          <a:prstGeom prst="rect">
            <a:avLst/>
          </a:prstGeom>
          <a:solidFill>
            <a:srgbClr val="3B2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292608"/>
            <a:ext cx="6812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</a:rPr>
              <a:t>04 / 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Reinforcement Learning — Concepte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1143000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7498079" cy="219456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Ciclul Agent ↔ Mediu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2194560" cy="1097280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AGENT
(Robot)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011680"/>
            <a:ext cx="2560320" cy="10972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194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MEDIU
(Labirint + Sim)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48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→  Acțiune (vL, vR)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BBF24"/>
                </a:solidFill>
              </a:rPr>
              <a:t>←  Stare + Recompensă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11430000" cy="2697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Terminologie esențială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251960"/>
            <a:ext cx="3566160" cy="77724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297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Stare (s)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58114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Discretizare a citirilor senzorilor → (bucket_față, bucket_stânga, bucket_dreapta). Total 27 stări.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4251960"/>
            <a:ext cx="3566160" cy="77724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9976" y="4297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Acțiune (a)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9976" y="458114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Una din cele 6 comenzi: FORWARD, CURVE_LEFT/RIGHT, TURN_LEFT/RIGHT, BACK_UP.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37576" y="4251960"/>
            <a:ext cx="3566160" cy="77724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7304" y="4297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Recompensă (r)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4" y="458114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Semnal scalar după fiecare pas: +0.50 forward, -10.0 coliziune, +variabil clearance.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212080"/>
            <a:ext cx="3566160" cy="77724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5257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Q(s, 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554126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Valoarea estimată a acțiunii a în starea s. Stocată în Q-Table (dicționar Python).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5212080"/>
            <a:ext cx="3566160" cy="77724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9976" y="5257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Politică (π)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9976" y="554126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Regulă de decizie: ε-greedy → aleatoriu cu prob. ε, altfel acțiunea cu Q maxim.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472184" cy="256032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292608"/>
            <a:ext cx="1380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05a / Q-LEARNING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Q-Learning &amp; SARSA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114300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00" cy="100584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Q-Learning (Off-Policy)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Q(s,a) ← Q(s,a) + α[r + γ·max Q(s',a') − Q(s,a)]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5486400" cy="100584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786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SARSA (On-Policy)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Q(s,a) ← Q(s,a) + α[r + γ·Q(s',a') − Q(s,a)]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17320"/>
            <a:ext cx="5486400" cy="214884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Hiperparametri importanți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965960"/>
            <a:ext cx="5303520" cy="50292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0025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α (alpha)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0025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Rata de învățare. Cât de repede se actualizează Q-Table.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200253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0.25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560320"/>
            <a:ext cx="5303520" cy="50292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596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γ (gamma)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5968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Discount factor. Cât contează recompensele viitoare.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25968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0.92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154680"/>
            <a:ext cx="5303520" cy="50292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31912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ε (epsilon)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1912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Probabilitatea de explorare aleatorie.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319125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1.0 → 0.05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0"/>
            <a:ext cx="114300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2093976" cy="256032"/>
          </a:xfrm>
          <a:prstGeom prst="rect">
            <a:avLst/>
          </a:prstGeom>
          <a:solidFill>
            <a:srgbClr val="3B2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292608"/>
            <a:ext cx="2002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</a:rPr>
              <a:t>05b / ALGORITMI AVANSAȚI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Expected SARSA &amp; Dyna-Q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1143000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00" cy="32004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Expected SARSA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5212080" cy="64008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848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Q(s,a) ← Q(s,a) + α[r + γ·Σ π(a'|s')·Q(s',a') − Q(s,a)]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Diferența față de SARSA: în loc să folosim Q(s', a') pentru o singură acțiune a', calculăm media ponderată pe toate acțiunile posibile din starea s', conform politicii ε-greedy.
Avantaj: varianță mai mică → convergență mai stabilă, mai puțin sensibil la acțiunile explorative aleatorii.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5486400" cy="32004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Dyna-Q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Combină învățarea directă din experiență cu planificarea prin episoade imaginare:
1. Execută o acțiune reală → primești (s, a, r, s')
2. Actualizează Q-Table (ca Q-Learning)
3. Salvează tranziția în Model(s, a) = (r, s')
4. Repetă de n ori: alege (s, a) aleatoriu din model
   → simulează experiența → actualizează Q
Avantaj: învață mult mai rapid deoarece un singur pas real generează n actualizări suplimentare din memorie.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800600"/>
            <a:ext cx="11430000" cy="169164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64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Comparație rapidă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230368"/>
            <a:ext cx="1965960" cy="292608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24865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</a:rPr>
              <a:t>Algoritm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5230368"/>
            <a:ext cx="1600200" cy="292608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524865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</a:rPr>
              <a:t>Tip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5230368"/>
            <a:ext cx="1600200" cy="292608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524865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</a:rPr>
              <a:t>Stabilitate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5230368"/>
            <a:ext cx="1600200" cy="292608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59" y="524865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</a:rPr>
              <a:t>Viteză conv.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5230368"/>
            <a:ext cx="1874520" cy="292608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52486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</a:rPr>
              <a:t>Utilizare memorie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550408"/>
            <a:ext cx="1965960" cy="23774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568696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Q-Learning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4600" y="5550408"/>
            <a:ext cx="1600200" cy="23774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78608" y="5568696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Off-policy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5550408"/>
            <a:ext cx="1600200" cy="23774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4528" y="5568696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Medie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5550408"/>
            <a:ext cx="1600200" cy="23774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0448" y="5568696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Medie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60" y="5550408"/>
            <a:ext cx="1874520" cy="23774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5568696"/>
            <a:ext cx="1810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Mică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797296"/>
            <a:ext cx="1965960" cy="23774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5815583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SARSA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14600" y="5797296"/>
            <a:ext cx="1600200" cy="23774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78608" y="5815583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On-policy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5797296"/>
            <a:ext cx="1600200" cy="23774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24528" y="5815583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Bună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06440" y="5797296"/>
            <a:ext cx="1600200" cy="23774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70448" y="5815583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Medie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52360" y="5797296"/>
            <a:ext cx="1874520" cy="23774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16368" y="5815583"/>
            <a:ext cx="1810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Mică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044184"/>
            <a:ext cx="1965960" cy="23774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6062472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Expected SARSA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14600" y="6044184"/>
            <a:ext cx="1600200" cy="23774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78608" y="6062472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On-policy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60520" y="6044184"/>
            <a:ext cx="1600200" cy="23774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24528" y="6062472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Excelentă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06440" y="6044184"/>
            <a:ext cx="1600200" cy="23774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70448" y="6062472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Medie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52360" y="6044184"/>
            <a:ext cx="1874520" cy="23774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16368" y="6062472"/>
            <a:ext cx="1810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Mică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6291072"/>
            <a:ext cx="1965960" cy="23774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6309360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Dyna-Q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14600" y="6291072"/>
            <a:ext cx="1600200" cy="23774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8608" y="630936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Off-policy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60520" y="6291072"/>
            <a:ext cx="1600200" cy="23774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24528" y="630936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Bună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6440" y="6291072"/>
            <a:ext cx="1600200" cy="23774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70448" y="630936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Rapidă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52360" y="6291072"/>
            <a:ext cx="1874520" cy="23774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16368" y="6309360"/>
            <a:ext cx="1810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Medie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2016252" cy="256032"/>
          </a:xfrm>
          <a:prstGeom prst="rect">
            <a:avLst/>
          </a:prstGeom>
          <a:solidFill>
            <a:srgbClr val="4A3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292608"/>
            <a:ext cx="19248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</a:rPr>
              <a:t>06 / STĂRI &amp; RECOMPENSE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Spațiu de Stări, Acțiuni &amp; Recompense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11430000" cy="25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20116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Discretizarea stării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Citirile brute (16 distanțe float) → 3 grupuri → 3 buckete:
  Bucket 0  (aproape):   d &lt; 0.22 m
  Bucket 1  (mediu):     0.22 ≤ d &lt; 0.55 m
  Bucket 2  (liber):     d ≥ 0.55 m
Stare = (bucket_față, bucket_stânga, bucket_dreapta)
Total stări = 3³ =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20440"/>
            <a:ext cx="5303520" cy="237744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Cele 6 acțiuni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416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</a:rPr>
              <a:t>0  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041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vL = vR = 7.0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708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</a:rPr>
              <a:t>1  CURVE_LEFT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3708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vL = 3.85, vR = 7.0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0001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</a:rPr>
              <a:t>2  CURVE_RIGHT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700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vL = 7.0,  vR = 3.85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</a:rPr>
              <a:t>3  TURN_LEFT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vL = −5.5, vR = +5.5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5838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</a:rPr>
              <a:t>4  TURN_RIGHT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35838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vL = +5.5, vR = −5.5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875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7171"/>
                </a:solidFill>
              </a:rPr>
              <a:t>5  BACK_UP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6875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vL = vR = −5.6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6035040" cy="219456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749039"/>
            <a:ext cx="603504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472184" cy="256032"/>
          </a:xfrm>
          <a:prstGeom prst="rect">
            <a:avLst/>
          </a:prstGeom>
          <a:solidFill>
            <a:srgbClr val="134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292608"/>
            <a:ext cx="1380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</a:rPr>
              <a:t>07 / PATHFINDING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Algoritmi Clasici de Pathfinding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1143000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5669280" cy="1481328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44752"/>
            <a:ext cx="73152" cy="14813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517904"/>
            <a:ext cx="640080" cy="45720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536192"/>
            <a:ext cx="6035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</a:rPr>
              <a:t>BFS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53619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Breadth-First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847088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Parcurge nivelurile în ordine. Garantează cel mai scurt traseu (nr. pași) în grafuri neponderate.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4048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Complexitate: O(V + 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4048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Garantat optim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5669280" cy="1481328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73152" cy="14813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" y="3182112"/>
            <a:ext cx="640080" cy="45720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3200400"/>
            <a:ext cx="6035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DFS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20040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Depth-First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511296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Urmărește un drum cât mai adânc, se întoarce la bifurcații. NU garantează traseul cel mai scurt.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0690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Complexitate: O(V + 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069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7171"/>
                </a:solidFill>
              </a:rPr>
              <a:t>Nu garantează optim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773168"/>
            <a:ext cx="5669280" cy="1481328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773168"/>
            <a:ext cx="73152" cy="14813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" y="4846320"/>
            <a:ext cx="640080" cy="45720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" y="4864608"/>
            <a:ext cx="6035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</a:rPr>
              <a:t>Dijkstra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486460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Uniform Cost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5175504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Extinde nodul cu costul minim acumulat. Identic cu BFS pe grafuri neponderate (cost uniform = 1).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57332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Complexitate: O((V+E) log 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57332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Garantat optim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444752"/>
            <a:ext cx="5669280" cy="1481328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1444752"/>
            <a:ext cx="73152" cy="14813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19088" y="1517904"/>
            <a:ext cx="640080" cy="45720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1536192"/>
            <a:ext cx="6035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</a:rPr>
              <a:t>A*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153619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A* cu euristică Manhattan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0608" y="1847088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Combină costul real g(n) cu estimarea h(n) = |Δrow| + |Δcol|. Cel mai eficient pentru grid-uri.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0608" y="24048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Complexitate: O(b^d)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4048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7171"/>
                </a:solidFill>
              </a:rPr>
              <a:t>Optim (euristică admisibilă)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108960"/>
            <a:ext cx="5669280" cy="1481328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3108960"/>
            <a:ext cx="73152" cy="14813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19088" y="3182112"/>
            <a:ext cx="640080" cy="45720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37376" y="3200400"/>
            <a:ext cx="6035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7171"/>
                </a:solidFill>
              </a:rPr>
              <a:t>Greedy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50608" y="320040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Greedy Best-First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50608" y="3511296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Alege mereu nodul cel mai aproape de goal după euristică. Rapid, dar poate găsi trasee suboptime.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50608" y="40690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Complexitate: O(b^d)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4069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7171"/>
                </a:solidFill>
              </a:rPr>
              <a:t>NU garantează optim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316736" cy="256032"/>
          </a:xfrm>
          <a:prstGeom prst="rect">
            <a:avLst/>
          </a:prstGeom>
          <a:solidFill>
            <a:srgbClr val="4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292608"/>
            <a:ext cx="12252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7171"/>
                </a:solidFill>
              </a:rPr>
              <a:t>08 /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Comparație &amp; Rezultate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1143000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5852160" cy="292608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5486400" cy="2926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4434840"/>
            <a:ext cx="11430000" cy="210312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4988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Concluzii comparative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92040"/>
            <a:ext cx="2514600" cy="274320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910328"/>
            <a:ext cx="24505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</a:rPr>
              <a:t>Algoritm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39" y="4892040"/>
            <a:ext cx="1783080" cy="274320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7247" y="4910328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</a:rPr>
              <a:t>Categorie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4892040"/>
            <a:ext cx="3611880" cy="274320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4910328"/>
            <a:ext cx="3547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</a:rPr>
              <a:t>Avantaje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4892040"/>
            <a:ext cx="3154680" cy="274320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3648" y="4910328"/>
            <a:ext cx="3090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</a:rPr>
              <a:t>Dezavantaje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193792"/>
            <a:ext cx="2514600" cy="28346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212080"/>
            <a:ext cx="24505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A* (Pathfinding)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39" y="5193792"/>
            <a:ext cx="1783080" cy="28346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7247" y="5212080"/>
            <a:ext cx="1719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Clasic — fără RL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5193792"/>
            <a:ext cx="3611880" cy="28346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5212080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Optimal, rapid, fără antrenare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49640" y="5193792"/>
            <a:ext cx="3154680" cy="28346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13648" y="5212080"/>
            <a:ext cx="3090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Necesită harta completă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486400"/>
            <a:ext cx="2514600" cy="28346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504688"/>
            <a:ext cx="24505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BFS (Pathfinding)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39" y="5486400"/>
            <a:ext cx="1783080" cy="28346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27247" y="5504688"/>
            <a:ext cx="1719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Clasic — fără RL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5486400"/>
            <a:ext cx="3611880" cy="28346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5504688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Garantat cel mai scurt traseu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9640" y="5486400"/>
            <a:ext cx="3154680" cy="28346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13648" y="5504688"/>
            <a:ext cx="3090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Explorează mai multe celule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779007"/>
            <a:ext cx="2514600" cy="28346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5797296"/>
            <a:ext cx="24505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Q-Learning (RL)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39" y="5779007"/>
            <a:ext cx="1783080" cy="28346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27247" y="5797296"/>
            <a:ext cx="1719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Online learning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92040" y="5779007"/>
            <a:ext cx="3611880" cy="28346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56048" y="5797296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Adaptiv, nu necesită hartă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49640" y="5779007"/>
            <a:ext cx="3154680" cy="283464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13648" y="5797296"/>
            <a:ext cx="3090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Necesită episoade de antrenare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071616"/>
            <a:ext cx="2514600" cy="28346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6089904"/>
            <a:ext cx="24505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Dyna-Q (RL)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63239" y="6071616"/>
            <a:ext cx="1783080" cy="28346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27247" y="6089904"/>
            <a:ext cx="1719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Model-based RL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92040" y="6071616"/>
            <a:ext cx="3611880" cy="28346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6048" y="608990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Convergență rapidă prin planning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49640" y="6071616"/>
            <a:ext cx="3154680" cy="283464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13648" y="6089904"/>
            <a:ext cx="3090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Memorie suplimentară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928116" cy="256032"/>
          </a:xfrm>
          <a:prstGeom prst="rect">
            <a:avLst/>
          </a:prstGeom>
          <a:solidFill>
            <a:srgbClr val="134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292608"/>
            <a:ext cx="8366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</a:rPr>
              <a:t>COD SURSĂ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Fragmente de Cod Cheie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1143000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00" cy="233172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904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# 1. Actualizarea Q-Table (behaviors.py)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B82F6"/>
                </a:solidFill>
              </a:rPr>
              <a:t>def _learn(self, s, a, r, s2, terminal):</a:t>
            </a:r>
          </a:p>
          <a:p>
            <a:pPr algn="l"/>
            <a:r>
              <a:rPr sz="1050" b="0">
                <a:solidFill>
                  <a:srgbClr val="34D399"/>
                </a:solidFill>
              </a:rPr>
              <a:t>    qv = self._q_table[s]</a:t>
            </a:r>
          </a:p>
          <a:p>
            <a:pPr algn="l"/>
            <a:r>
              <a:rPr sz="1050" b="0">
                <a:solidFill>
                  <a:srgbClr val="34D399"/>
                </a:solidFill>
              </a:rPr>
              <a:t>    nv = self._q_table[s2]</a:t>
            </a:r>
          </a:p>
          <a:p>
            <a:pPr algn="l"/>
            <a:r>
              <a:rPr sz="1050" b="0">
                <a:solidFill>
                  <a:srgbClr val="FBBF24"/>
                </a:solidFill>
              </a:rPr>
              <a:t>    if terminal:</a:t>
            </a:r>
          </a:p>
          <a:p>
            <a:pPr algn="l"/>
            <a:r>
              <a:rPr sz="1050" b="0">
                <a:solidFill>
                  <a:srgbClr val="E2E8F0"/>
                </a:solidFill>
              </a:rPr>
              <a:t>        target = r</a:t>
            </a:r>
          </a:p>
          <a:p>
            <a:pPr algn="l"/>
            <a:r>
              <a:rPr sz="1050" b="0">
                <a:solidFill>
                  <a:srgbClr val="FBBF24"/>
                </a:solidFill>
              </a:rPr>
              <a:t>    else:</a:t>
            </a:r>
          </a:p>
          <a:p>
            <a:pPr algn="l"/>
            <a:r>
              <a:rPr sz="1050" b="0">
                <a:solidFill>
                  <a:srgbClr val="E2E8F0"/>
                </a:solidFill>
              </a:rPr>
              <a:t>        target = r + γ * max(nv)</a:t>
            </a:r>
          </a:p>
          <a:p>
            <a:pPr algn="l"/>
            <a:r>
              <a:rPr sz="1050" b="0">
                <a:solidFill>
                  <a:srgbClr val="A78BFA"/>
                </a:solidFill>
              </a:rPr>
              <a:t>    qv[a] += α * (target - qv[a])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17320"/>
            <a:ext cx="5852160" cy="233172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4904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# 2. Selectarea acțiunii (ε-greedy)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783080"/>
            <a:ext cx="5577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B82F6"/>
                </a:solidFill>
              </a:rPr>
              <a:t>def _choose_action(self, s, f, l, r):</a:t>
            </a:r>
          </a:p>
          <a:p>
            <a:pPr algn="l"/>
            <a:r>
              <a:rPr sz="1050" b="0">
                <a:solidFill>
                  <a:srgbClr val="FBBF24"/>
                </a:solidFill>
              </a:rPr>
              <a:t>    if f &lt; self.collision_dist:</a:t>
            </a:r>
          </a:p>
          <a:p>
            <a:pPr algn="l"/>
            <a:r>
              <a:rPr sz="1050" b="0">
                <a:solidFill>
                  <a:srgbClr val="E2E8F0"/>
                </a:solidFill>
              </a:rPr>
              <a:t>        return 3 if l&gt;r else 4</a:t>
            </a:r>
          </a:p>
          <a:p>
            <a:pPr algn="l"/>
            <a:r>
              <a:rPr sz="1050" b="0">
                <a:solidFill>
                  <a:srgbClr val="FBBF24"/>
                </a:solidFill>
              </a:rPr>
              <a:t>    if random.random() &lt; self.ε:</a:t>
            </a:r>
          </a:p>
          <a:p>
            <a:pPr algn="l"/>
            <a:r>
              <a:rPr sz="1050" b="0">
                <a:solidFill>
                  <a:srgbClr val="E2E8F0"/>
                </a:solidFill>
              </a:rPr>
              <a:t>        return random.choices(</a:t>
            </a:r>
          </a:p>
          <a:p>
            <a:pPr algn="l"/>
            <a:r>
              <a:rPr sz="1050" b="0">
                <a:solidFill>
                  <a:srgbClr val="E2E8F0"/>
                </a:solidFill>
              </a:rPr>
              <a:t>            [0,1,2,3,4,5],</a:t>
            </a:r>
          </a:p>
          <a:p>
            <a:pPr algn="l"/>
            <a:r>
              <a:rPr sz="1050" b="0">
                <a:solidFill>
                  <a:srgbClr val="34D399"/>
                </a:solidFill>
              </a:rPr>
              <a:t>            weights=[40,20,20,8,8,4])[0]</a:t>
            </a:r>
          </a:p>
          <a:p>
            <a:pPr algn="l"/>
            <a:r>
              <a:rPr sz="1050" b="0">
                <a:solidFill>
                  <a:srgbClr val="A78BFA"/>
                </a:solidFill>
              </a:rPr>
              <a:t>    return argmax(Q[s])  # greedy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5486400" cy="269748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9136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# 3. BFS în pathfinding.py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87952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B82F6"/>
                </a:solidFill>
              </a:rPr>
              <a:t>def bfs(maze: GridMaze):</a:t>
            </a:r>
          </a:p>
          <a:p>
            <a:pPr algn="l"/>
            <a:r>
              <a:rPr sz="1050" b="0">
                <a:solidFill>
                  <a:srgbClr val="E2E8F0"/>
                </a:solidFill>
              </a:rPr>
              <a:t>    queue = deque([maze.start])</a:t>
            </a:r>
          </a:p>
          <a:p>
            <a:pPr algn="l"/>
            <a:r>
              <a:rPr sz="1050" b="0">
                <a:solidFill>
                  <a:srgbClr val="E2E8F0"/>
                </a:solidFill>
              </a:rPr>
              <a:t>    came_from = {maze.start: None}</a:t>
            </a:r>
          </a:p>
          <a:p>
            <a:pPr algn="l"/>
            <a:r>
              <a:rPr sz="1050" b="0">
                <a:solidFill>
                  <a:srgbClr val="FBBF24"/>
                </a:solidFill>
              </a:rPr>
              <a:t>    while queue:</a:t>
            </a:r>
          </a:p>
          <a:p>
            <a:pPr algn="l"/>
            <a:r>
              <a:rPr sz="1050" b="0">
                <a:solidFill>
                  <a:srgbClr val="34D399"/>
                </a:solidFill>
              </a:rPr>
              <a:t>        cur = queue.popleft()</a:t>
            </a:r>
          </a:p>
          <a:p>
            <a:pPr algn="l"/>
            <a:r>
              <a:rPr sz="1050" b="0">
                <a:solidFill>
                  <a:srgbClr val="FBBF24"/>
                </a:solidFill>
              </a:rPr>
              <a:t>        if cur == maze.goal:</a:t>
            </a:r>
          </a:p>
          <a:p>
            <a:pPr algn="l"/>
            <a:r>
              <a:rPr sz="1050" b="0">
                <a:solidFill>
                  <a:srgbClr val="A78BFA"/>
                </a:solidFill>
              </a:rPr>
              <a:t>            return reconstruct(came_from)</a:t>
            </a:r>
          </a:p>
          <a:p>
            <a:pPr algn="l"/>
            <a:r>
              <a:rPr sz="1050" b="0">
                <a:solidFill>
                  <a:srgbClr val="34D399"/>
                </a:solidFill>
              </a:rPr>
              <a:t>        for nb in maze.neighbors(*cur):</a:t>
            </a:r>
          </a:p>
          <a:p>
            <a:pPr algn="l"/>
            <a:r>
              <a:rPr sz="1050" b="0">
                <a:solidFill>
                  <a:srgbClr val="FBBF24"/>
                </a:solidFill>
              </a:rPr>
              <a:t>            if nb not in came_from:</a:t>
            </a:r>
          </a:p>
          <a:p>
            <a:pPr algn="l"/>
            <a:r>
              <a:rPr sz="1050" b="0">
                <a:solidFill>
                  <a:srgbClr val="E2E8F0"/>
                </a:solidFill>
              </a:rPr>
              <a:t>                came_from[nb] = cur</a:t>
            </a:r>
          </a:p>
          <a:p>
            <a:pPr algn="l"/>
            <a:r>
              <a:rPr sz="1050" b="0">
                <a:solidFill>
                  <a:srgbClr val="E2E8F0"/>
                </a:solidFill>
              </a:rPr>
              <a:t>                queue.append(nb)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840480"/>
            <a:ext cx="5852160" cy="269748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9136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# 4. A* cu Manhattan heuristic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187952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B82F6"/>
                </a:solidFill>
              </a:rPr>
              <a:t>def astar(maze: GridMaze):</a:t>
            </a:r>
          </a:p>
          <a:p>
            <a:pPr algn="l"/>
            <a:r>
              <a:rPr sz="1050" b="0">
                <a:solidFill>
                  <a:srgbClr val="E2E8F0"/>
                </a:solidFill>
              </a:rPr>
              <a:t>    h = lambda n: manhattan(n, goal)</a:t>
            </a:r>
          </a:p>
          <a:p>
            <a:pPr algn="l"/>
            <a:r>
              <a:rPr sz="1050" b="0">
                <a:solidFill>
                  <a:srgbClr val="E2E8F0"/>
                </a:solidFill>
              </a:rPr>
              <a:t>    heap = [(h(start), 0, start)]</a:t>
            </a:r>
          </a:p>
          <a:p>
            <a:pPr algn="l"/>
            <a:r>
              <a:rPr sz="1050" b="0">
                <a:solidFill>
                  <a:srgbClr val="E2E8F0"/>
                </a:solidFill>
              </a:rPr>
              <a:t>    g_cost = {start: 0}</a:t>
            </a:r>
          </a:p>
          <a:p>
            <a:pPr algn="l"/>
            <a:r>
              <a:rPr sz="1050" b="0">
                <a:solidFill>
                  <a:srgbClr val="FBBF24"/>
                </a:solidFill>
              </a:rPr>
              <a:t>    while heap:</a:t>
            </a:r>
          </a:p>
          <a:p>
            <a:pPr algn="l"/>
            <a:r>
              <a:rPr sz="1050" b="0">
                <a:solidFill>
                  <a:srgbClr val="34D399"/>
                </a:solidFill>
              </a:rPr>
              <a:t>        _, g, cur = heappop(heap)</a:t>
            </a:r>
          </a:p>
          <a:p>
            <a:pPr algn="l"/>
            <a:r>
              <a:rPr sz="1050" b="0">
                <a:solidFill>
                  <a:srgbClr val="A78BFA"/>
                </a:solidFill>
              </a:rPr>
              <a:t>        if cur == goal: return path</a:t>
            </a:r>
          </a:p>
          <a:p>
            <a:pPr algn="l"/>
            <a:r>
              <a:rPr sz="1050" b="0">
                <a:solidFill>
                  <a:srgbClr val="34D399"/>
                </a:solidFill>
              </a:rPr>
              <a:t>        for nb in maze.neighbors(*cur):</a:t>
            </a:r>
          </a:p>
          <a:p>
            <a:pPr algn="l"/>
            <a:r>
              <a:rPr sz="1050" b="0">
                <a:solidFill>
                  <a:srgbClr val="E2E8F0"/>
                </a:solidFill>
              </a:rPr>
              <a:t>            ng = g_cost[cur] + 1</a:t>
            </a:r>
          </a:p>
          <a:p>
            <a:pPr algn="l"/>
            <a:r>
              <a:rPr sz="1050" b="0">
                <a:solidFill>
                  <a:srgbClr val="FBBF24"/>
                </a:solidFill>
              </a:rPr>
              <a:t>            if ng &lt; g_cost.get(nb, ∞):</a:t>
            </a:r>
          </a:p>
          <a:p>
            <a:pPr algn="l"/>
            <a:r>
              <a:rPr sz="1050" b="0">
                <a:solidFill>
                  <a:srgbClr val="E2E8F0"/>
                </a:solidFill>
              </a:rPr>
              <a:t>                heappush(heap,(ng+h(nb),ng,nb))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316736" cy="256032"/>
          </a:xfrm>
          <a:prstGeom prst="rect">
            <a:avLst/>
          </a:prstGeom>
          <a:solidFill>
            <a:srgbClr val="1D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292608"/>
            <a:ext cx="12252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09 / INTERFAȚĂ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Interfața Utilizator —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114300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77840" cy="14173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73152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2704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Informații echipă, descriere proiect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35808"/>
            <a:ext cx="5577840" cy="14173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035808"/>
            <a:ext cx="73152" cy="1417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5584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145536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Concepte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75888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Documentație algoritmi RL și robot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54296"/>
            <a:ext cx="5577840" cy="14173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654296"/>
            <a:ext cx="73152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974336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64024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Editor Maze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4376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Editare vizuală labirint, Solve cu BFS/DFS/A*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417320"/>
            <a:ext cx="5577840" cy="14173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417320"/>
            <a:ext cx="73152" cy="1417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152704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Antrenare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05740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Selectare algoritm RL, hiperparametri, start/stop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035808"/>
            <a:ext cx="5577840" cy="14173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035808"/>
            <a:ext cx="73152" cy="1417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35584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145536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675888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Pathfinding clasic instant + RL pe episoade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654296"/>
            <a:ext cx="5577840" cy="14173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654296"/>
            <a:ext cx="73152" cy="1417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74336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764024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294376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Senzori live, log evenimente, poziție robot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3093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Stack UI: CustomTkinter (dark theme)  ·  Canvas Tkinter pentru labirint  ·  Threading pentru loop de control la 20 Hz  ·  Queue pentru comunicare GUI ↔ Worker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316736" cy="256032"/>
          </a:xfrm>
          <a:prstGeom prst="rect">
            <a:avLst/>
          </a:prstGeom>
          <a:solidFill>
            <a:srgbClr val="134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292608"/>
            <a:ext cx="12252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</a:rPr>
              <a:t>10 / CONCLUZII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Concluzii &amp; Direcții Viitoare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1143000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26517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✅  Ce s-a realizat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•  Simulator complet robot + labirint în CoppeliaSim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•  4 algoritmi RL implementați și comparabili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3347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•  5 algoritmi de pathfinding clasic cu vizualizare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8094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•  Dashboard GUI interactiv cu editor labirint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2841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•  Benchmark automat + export grafice matplotlib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75887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•  Detecție blocare robot cu mecanism de recuperare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417320"/>
            <a:ext cx="5852160" cy="26517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⚠️  Limitări identificate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•  Spațiu de stări mic (27) → robot nu poate memora pozițiile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3408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•  Fără localizare → nu poate planifica rute lungi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743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•  Q-Table reset la fiecare pornire (fără persistență)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1455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•  Senzorii ultrasonici au unghiuri moarte în colțuri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11430000" cy="192024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79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🚀  Direcții de dezvoltare viitoare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09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→  Deep Q-Network (DQN):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7091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Rețea neuronală în loc de Q-Table → gestionare spații de stări continue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709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→  SLAM + Hartă internă: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47091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Localizare și cartografiere simultană → navigare planificată global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49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→  Obstacole dinamice: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5349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Integrare obstacole mobile și replanificare în timp real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349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→  Transfer learning: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5349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Pre-antrenare în simulare → transfer pe robotul real fizic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solidFill>
            <a:srgbClr val="134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3093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</a:rPr>
              <a:t>Proiect realizat pentru disciplina Inteligență Artificială  ·  Echipa Patanii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